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57"/>
    <p:restoredTop sz="94674"/>
  </p:normalViewPr>
  <p:slideViewPr>
    <p:cSldViewPr snapToGrid="0" snapToObjects="1">
      <p:cViewPr varScale="1">
        <p:scale>
          <a:sx n="196" d="100"/>
          <a:sy n="196" d="100"/>
        </p:scale>
        <p:origin x="52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7315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109728" cy="228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ТД «ЦЕРЕРА-МЕБЕЛЬ»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</a:rPr>
              <a:t>АНАЛИТИЧЕСКИЙ ОТЧЁТ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</a:rPr>
              <a:t>Март 2026  •  01.03.2026 – 31.03.2026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029200"/>
            <a:ext cx="2743200" cy="1005840"/>
          </a:xfrm>
          <a:prstGeom prst="rect">
            <a:avLst/>
          </a:prstGeom>
          <a:solidFill>
            <a:srgbClr val="0D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5029200"/>
            <a:ext cx="54864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Выручка (продажи)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4132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2 727 359 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5029200"/>
            <a:ext cx="2743200" cy="1005840"/>
          </a:xfrm>
          <a:prstGeom prst="rect">
            <a:avLst/>
          </a:prstGeom>
          <a:solidFill>
            <a:srgbClr val="0D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5029200"/>
            <a:ext cx="54864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Начислено итого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54132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1 008 514 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5029200"/>
            <a:ext cx="2743200" cy="1005840"/>
          </a:xfrm>
          <a:prstGeom prst="rect">
            <a:avLst/>
          </a:prstGeom>
          <a:solidFill>
            <a:srgbClr val="0D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5029200"/>
            <a:ext cx="54864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Баллы начислено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54132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1 116 223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5029200"/>
            <a:ext cx="2743200" cy="1005840"/>
          </a:xfrm>
          <a:prstGeom prst="rect">
            <a:avLst/>
          </a:prstGeom>
          <a:solidFill>
            <a:srgbClr val="0D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52560" y="5029200"/>
            <a:ext cx="54864" cy="10058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51206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Топ категория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541324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Мебель мед. №35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seller.ozon.ru  •  Данные кабинета продавца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ТД «Церера-Мебель»  •  Отчёт за март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Ключевые показатели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</a:rPr>
              <a:t>Данные: seller.ozon.ru  •  Период: 01.03.2026 – 31.03.2026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</a:rPr>
              <a:t>Финансовый обзор — март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2834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54864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38988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Продажи (выручка заказов)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6276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2 727 359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1031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Оборот за месяц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55264" y="1280160"/>
            <a:ext cx="2834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55264" y="1280160"/>
            <a:ext cx="54864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92424" y="138988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Начислено итого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16276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2C39A"/>
                </a:solidFill>
              </a:rPr>
              <a:t>1 008 514 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21031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После всех вычетов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8" y="1280160"/>
            <a:ext cx="2834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6208" y="1280160"/>
            <a:ext cx="54864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73368" y="138988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Текущий баланс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16276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602 545 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21031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На 13.04.2026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17152" y="1280160"/>
            <a:ext cx="2834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217152" y="1280160"/>
            <a:ext cx="54864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54312" y="138988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Баланс на начало апреля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162763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973 864 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4312" y="21031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1 апреля 2026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560320"/>
            <a:ext cx="2834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2560320"/>
            <a:ext cx="54864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26700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Возвраты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29077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6167"/>
                </a:solidFill>
              </a:rPr>
              <a:t>−13 365 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33832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За период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55264" y="2560320"/>
            <a:ext cx="2834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55264" y="2560320"/>
            <a:ext cx="54864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92424" y="26700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Вознаграждение Ozon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92424" y="29077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6167"/>
                </a:solidFill>
              </a:rPr>
              <a:t>−1 100 539 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92424" y="33832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40.6% от продаж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36208" y="2560320"/>
            <a:ext cx="2834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36208" y="2560320"/>
            <a:ext cx="54864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73368" y="26700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Услуги доставки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29077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6167"/>
                </a:solidFill>
              </a:rPr>
              <a:t>−534 374 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73368" y="33832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19.7% от продаж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17152" y="2560320"/>
            <a:ext cx="2834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217152" y="2560320"/>
            <a:ext cx="54864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354312" y="26700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Продвижение и реклама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54312" y="29077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−36 153 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54312" y="33832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1.3% от продаж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840480"/>
            <a:ext cx="2834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74320" y="3840480"/>
            <a:ext cx="54864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39502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Услуги партнёров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41879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−23 398 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46634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0.9% от продаж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55264" y="3840480"/>
            <a:ext cx="2834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255264" y="3840480"/>
            <a:ext cx="54864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392424" y="39502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Другие услуги и штрафы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92424" y="41879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</a:rPr>
              <a:t>−10 411 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92424" y="46634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0.4% от продаж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36208" y="3840480"/>
            <a:ext cx="2834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236208" y="3840480"/>
            <a:ext cx="54864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73368" y="39502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Компенсации Ozon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73368" y="41879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2C39A"/>
                </a:solidFill>
              </a:rPr>
              <a:t>+650 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73368" y="46634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Потеря в логистике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17152" y="3840480"/>
            <a:ext cx="28346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217152" y="3840480"/>
            <a:ext cx="54864" cy="10972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354312" y="39502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Начислено баллов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54312" y="41879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C7293"/>
                </a:solidFill>
              </a:rPr>
              <a:t>1 116 223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54312" y="46634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За март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59436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⚡ Выплата 650 ₽ запланирована 10 апреля за период 1–31 марта (стандартный график)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ТД «Церера-Мебель»  •  Отчёт за март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Доходы и расходы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</a:rPr>
              <a:t>Данные: seller.ozon.ru  •  Период: 01.03.2026 – 31.03.2026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</a:rPr>
              <a:t>Структура начислений за март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53035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73152" cy="49377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ДОХОДЫ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7451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Продажи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8745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2C39A"/>
                </a:solidFill>
              </a:rPr>
              <a:t>2 727 359 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03703"/>
            <a:ext cx="493776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28599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Программы партнёров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28599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2C39A"/>
                </a:solidFill>
              </a:rPr>
              <a:t>9 500 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15183"/>
            <a:ext cx="493776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69747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Компенсации Ozon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69747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2C39A"/>
                </a:solidFill>
              </a:rPr>
              <a:t>650 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26663"/>
            <a:ext cx="493776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3200399"/>
            <a:ext cx="5120640" cy="1828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2918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Итого доходов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2918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2C39A"/>
                </a:solidFill>
              </a:rPr>
              <a:t>2 737 509 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9475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Возвраты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79475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96167"/>
                </a:solidFill>
              </a:rPr>
              <a:t>−13 365 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23943"/>
            <a:ext cx="493776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206239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Продажи и возвраты (нетто)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206239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2C39A"/>
                </a:solidFill>
              </a:rPr>
              <a:t>2 713 994 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280160"/>
            <a:ext cx="57607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26480" y="1280160"/>
            <a:ext cx="73152" cy="49377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93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6167"/>
                </a:solidFill>
              </a:rPr>
              <a:t>РАСХОДЫ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18745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Вознаграждение Ozon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187451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40.6%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187451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96167"/>
                </a:solidFill>
              </a:rPr>
              <a:t>−1 100 539 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203703"/>
            <a:ext cx="548640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225856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Услуги доставки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2258567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19.7%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258567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96167"/>
                </a:solidFill>
              </a:rPr>
              <a:t>−534 374 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2587751"/>
            <a:ext cx="548640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09360" y="264261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Услуги партнёров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2642615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0.9%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2642615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96167"/>
                </a:solidFill>
              </a:rPr>
              <a:t>−23 398 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2971799"/>
            <a:ext cx="548640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09360" y="302666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Продвижение и реклама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3026663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1.3%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3026663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96167"/>
                </a:solidFill>
              </a:rPr>
              <a:t>−36 153 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3355847"/>
            <a:ext cx="548640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09360" y="341071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Другие услуги и штрафы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3410711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0.4%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84080" y="3410711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96167"/>
                </a:solidFill>
              </a:rPr>
              <a:t>−10 411 ₽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63640" y="3739895"/>
            <a:ext cx="548640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09360" y="37947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Компенсации и декомп.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379475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0.0%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379475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96167"/>
                </a:solidFill>
              </a:rPr>
              <a:t>−604 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4123943"/>
            <a:ext cx="548640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217920" y="4251959"/>
            <a:ext cx="5486400" cy="1828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09360" y="4361687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ИТОГО начислено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436168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2C39A"/>
                </a:solidFill>
              </a:rPr>
              <a:t>1 008 514 ₽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1280160"/>
            <a:ext cx="18288" cy="493776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ТД «Церера-Мебель»  •  Отчёт за март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Экономика магазина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</a:rPr>
              <a:t>Данные: seller.ozon.ru  •  Период: 01.03.2026 – 31.03.2026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</a:rPr>
              <a:t>Детализация начислений — март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3749039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3749039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307592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Продажи и возвраты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892808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2C39A"/>
                </a:solidFill>
              </a:rPr>
              <a:t>2 713 994 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96312"/>
            <a:ext cx="3474719" cy="1371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2606040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Выручка (реализация)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8803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1 588 271 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31927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Программы партнёров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59359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9 500 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03250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Баллы за скидки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306824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1 116 223 балл.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39" y="1234440"/>
            <a:ext cx="3749039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06239" y="1234440"/>
            <a:ext cx="3749039" cy="5943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43399" y="1307592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Начисления (расходы)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399" y="1892808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96167"/>
                </a:solidFill>
              </a:rPr>
              <a:t>−1 705 480 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399" y="2496312"/>
            <a:ext cx="3474719" cy="1371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43399" y="2606040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Вознаграждение Ozon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399" y="28803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−1 100 539 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399" y="331927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Услуги доставки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399" y="359359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−534 374 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399" y="403250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Продвижение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399" y="4306824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−36 153 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399" y="4745736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Партнёры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399" y="5020056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−23 398 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399" y="5458968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Прочее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399" y="5733288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−10 411 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58" y="1234440"/>
            <a:ext cx="3749039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38158" y="1234440"/>
            <a:ext cx="3749039" cy="5943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75318" y="1307592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Итого к выплате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8" y="1892808"/>
            <a:ext cx="356615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65A82"/>
                </a:solidFill>
              </a:rPr>
              <a:t>1 008 514 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18" y="2496312"/>
            <a:ext cx="3474719" cy="13716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75318" y="2606040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Дата выплаты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18" y="2880360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10 апреля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18" y="331927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Выплата досрочно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5318" y="3593592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595 587 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5318" y="4032504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Доступная сумма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18" y="4306824"/>
            <a:ext cx="35661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при ставке 2.69%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ТД «Церера-Мебель»  •  Отчёт за март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Юнит-экономика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</a:rPr>
              <a:t>Данные: seller.ozon.ru  •  Период: 01.03.2026 – 31.03.2026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</a:rPr>
              <a:t>Топ прибыльных товаров — март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61872"/>
            <a:ext cx="9509760" cy="34747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3167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Товар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3167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Схема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31673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Цена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3167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Отгружено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131673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Доставлено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31673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Возврат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131673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Выручка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131673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Прибыль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609344"/>
            <a:ext cx="95097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1682496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Аптечка для медикаментов металлическая
аптечка_АМУ_1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1682496"/>
            <a:ext cx="640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FBO+FBS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1682496"/>
            <a:ext cx="640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3 501 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682496"/>
            <a:ext cx="731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164 шт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1682496"/>
            <a:ext cx="822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149 шт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682496"/>
            <a:ext cx="548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1.3%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1682496"/>
            <a:ext cx="1005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250 253 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1682496"/>
            <a:ext cx="1188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153 106 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404872"/>
            <a:ext cx="950976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2414016"/>
            <a:ext cx="9509760" cy="80467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0040" y="2487168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Почтовый ящик ЯП-05 на 5 ячеек ЦЕРЕРА
00-00005835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2487168"/>
            <a:ext cx="640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FBO+FBS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2487168"/>
            <a:ext cx="640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2487168"/>
            <a:ext cx="731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~100 шт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2487168"/>
            <a:ext cx="822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~98 шт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2487168"/>
            <a:ext cx="548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~2%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2487168"/>
            <a:ext cx="1005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~100 тыс 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2487168"/>
            <a:ext cx="1188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~100 тыс 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209544"/>
            <a:ext cx="950976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74320" y="3218688"/>
            <a:ext cx="95097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0040" y="3291840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Ключница К-20 металлическая, 20 ключей ЦЕРЕРА
00-00005830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11880" y="3291840"/>
            <a:ext cx="640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FBO+FBS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3291840"/>
            <a:ext cx="640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1 638 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3291840"/>
            <a:ext cx="731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3291840"/>
            <a:ext cx="822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3291840"/>
            <a:ext cx="548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&lt;5%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3291840"/>
            <a:ext cx="1005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3291840"/>
            <a:ext cx="1188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014216"/>
            <a:ext cx="950976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74320" y="4023360"/>
            <a:ext cx="9509760" cy="80467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0040" y="4096512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Стеллаж металлический усиленный СТ-СП ЦЕРЕРА
00-00001257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11880" y="4096512"/>
            <a:ext cx="640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FBO+FBS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4096512"/>
            <a:ext cx="640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8 528 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4920" y="4096512"/>
            <a:ext cx="731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12 шт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97880" y="4096512"/>
            <a:ext cx="822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12 шт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12280" y="4096512"/>
            <a:ext cx="548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60" y="4096512"/>
            <a:ext cx="1005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57 752 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49640" y="4096512"/>
            <a:ext cx="1188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62 113 ₽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4818888"/>
            <a:ext cx="950976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74320" y="4828032"/>
            <a:ext cx="950976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20040" y="4901184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</a:rPr>
              <a:t>Почтовый ящик ЯП-06 на 6 ячеек ЦЕРЕРА
00-00005836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11880" y="4901184"/>
            <a:ext cx="640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FBO+FBS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43400" y="4901184"/>
            <a:ext cx="640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74920" y="4901184"/>
            <a:ext cx="7315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97880" y="4901184"/>
            <a:ext cx="8229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4901184"/>
            <a:ext cx="548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52360" y="4901184"/>
            <a:ext cx="1005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49640" y="4901184"/>
            <a:ext cx="1188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5623560"/>
            <a:ext cx="950976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74320" y="60807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4748B"/>
                </a:solidFill>
              </a:rPr>
              <a:t>* Данные по некоторым позициям — частичные (топ-5 отображён по графику прибыли из юнит-экономики)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7315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ТД «Церера-Мебель»  •  Отчёт за март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7315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FBS — Заказы и логистика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</a:rPr>
              <a:t>Данные: seller.ozon.ru  •  Период: 01.03.2026 – 31.03.2026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5A82"/>
                </a:solidFill>
              </a:rPr>
              <a:t>FBS Заказы с моих складов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280160"/>
            <a:ext cx="26517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" y="1280160"/>
            <a:ext cx="265176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444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Ожидают сборки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7373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96167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280160"/>
            <a:ext cx="26517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54680" y="1280160"/>
            <a:ext cx="2651760" cy="54864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1444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Ожидают отгрузки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7373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96167"/>
                </a:solidFill>
              </a:rPr>
              <a:t>10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280160"/>
            <a:ext cx="26517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35040" y="1280160"/>
            <a:ext cx="2651760" cy="5486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1444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Доставляются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7373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C7293"/>
                </a:solidFill>
              </a:rPr>
              <a:t>36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1280160"/>
            <a:ext cx="26517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15400" y="1280160"/>
            <a:ext cx="2651760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52560" y="14447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Спорные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7373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64748B"/>
                </a:solidFill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2606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</a:rPr>
              <a:t>Логистика и склад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Склад отгрузки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Новчик (Чебоксары)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346704"/>
            <a:ext cx="758952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34381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Служба доставки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34381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Доставка Ozon самостоятельно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67328"/>
            <a:ext cx="758952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858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Регион доставки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858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Чебоксары и регионы России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187952"/>
            <a:ext cx="758952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42793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Возвраты FBS и FBO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2793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0 ожидают решения / 0 в ПВЗ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608576"/>
            <a:ext cx="758952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7000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Стоимость размещения апр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7000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0 ₽ (на текущий момент)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029200"/>
            <a:ext cx="758952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5120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Индекс ошибок FBS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8328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</a:rPr>
              <a:t>0% — без штрафных санкций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449824"/>
            <a:ext cx="7589520" cy="9144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229600" y="2606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</a:rPr>
              <a:t>Популярные артикулы FBS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3090672"/>
            <a:ext cx="54864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321040" y="30175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Ключница К-20 (00-00005830) — 1 638 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3502152"/>
            <a:ext cx="54864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321040" y="34290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Аптечка АМУ (аптечка_АМУ_1) — 3 501 ₽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38160" y="3913632"/>
            <a:ext cx="54864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21040" y="38404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Сейф СМ-50 (СМ-50) — 11 169 ₽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60" y="4325112"/>
            <a:ext cx="54864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21040" y="42519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Сейф СМ-50Э (СМ-50_Э) — 12 212 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4736592"/>
            <a:ext cx="54864" cy="2286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321040" y="4663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Сейф СМ-20Э (СМ-20_Э) — 6 746 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</a:rPr>
              <a:t>Данные: seller.ozon.ru  •  Период: 01.03.2026 – 31.03.2026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Итоги марта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5029200" cy="5029200"/>
          </a:xfrm>
          <a:prstGeom prst="rect">
            <a:avLst/>
          </a:prstGeom>
          <a:solidFill>
            <a:srgbClr val="0D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</a:rPr>
              <a:t>ФИНАНСОВЫЕ ИТОГИ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Оборот (продажи)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916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2C39A"/>
                </a:solidFill>
              </a:rPr>
              <a:t>2 727 359 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39112"/>
            <a:ext cx="4572000" cy="914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К получению (итого)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17627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2C39A"/>
                </a:solidFill>
              </a:rPr>
              <a:t>1 008 514 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23744"/>
            <a:ext cx="4572000" cy="914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6609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Рентабельность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66090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02C39A"/>
                </a:solidFill>
              </a:rPr>
              <a:t>~37%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08376"/>
            <a:ext cx="4572000" cy="914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1455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Расходы Ozon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1455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96167"/>
                </a:solidFill>
              </a:rPr>
              <a:t>1 705 480 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93008"/>
            <a:ext cx="4572000" cy="914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630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Доля вознаграждения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63016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96167"/>
                </a:solidFill>
              </a:rPr>
              <a:t>40.6%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977640"/>
            <a:ext cx="4572000" cy="914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Доля доставки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14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96167"/>
                </a:solidFill>
              </a:rPr>
              <a:t>19.6%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62272"/>
            <a:ext cx="4572000" cy="9144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0" y="1097280"/>
            <a:ext cx="3017520" cy="5029200"/>
          </a:xfrm>
          <a:prstGeom prst="rect">
            <a:avLst/>
          </a:prstGeom>
          <a:solidFill>
            <a:srgbClr val="0D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2356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</a:rPr>
              <a:t>ЗАДАЧИ КАБИНЕТА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1691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Заявки на скидку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16916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96167"/>
                </a:solidFill>
              </a:rPr>
              <a:t>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23560" y="21945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Ответить на вопросы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21945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96167"/>
                </a:solidFill>
              </a:rPr>
              <a:t>136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26974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Ответить на отзывы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96167"/>
                </a:solidFill>
              </a:rPr>
              <a:t>914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32004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</a:rPr>
              <a:t>Собрать/отгрузить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32004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96167"/>
                </a:solidFill>
              </a:rPr>
              <a:t>11 отпр.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1097280"/>
            <a:ext cx="3200400" cy="5029200"/>
          </a:xfrm>
          <a:prstGeom prst="rect">
            <a:avLst/>
          </a:prstGeom>
          <a:solidFill>
            <a:srgbClr val="0D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23960" y="1234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</a:rPr>
              <a:t>ВЫПЛАТА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23960" y="169164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Дата выплаты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1965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 апреля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235000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Сумма выплаты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262432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650 ₽ (аванс)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300837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Досрочная выплата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32826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595 587 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36667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Ставка досрочно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39410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от 2.69%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23960" y="432511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Отсрочка выплат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459943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до 5.4% скидка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498348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</a:rPr>
              <a:t>Займ одобрен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5257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15 000 000 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263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</a:rPr>
              <a:t>ТД «ЦЕРЕРА-МЕБЕЛЬ»  •  Ozon Seller  •  Март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890</Words>
  <Application>Microsoft Macintosh PowerPoint</Application>
  <PresentationFormat>Произвольный</PresentationFormat>
  <Paragraphs>245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Vladimir</cp:lastModifiedBy>
  <cp:revision>1</cp:revision>
  <dcterms:created xsi:type="dcterms:W3CDTF">2013-01-27T09:14:16Z</dcterms:created>
  <dcterms:modified xsi:type="dcterms:W3CDTF">2026-04-13T07:34:09Z</dcterms:modified>
  <cp:category/>
</cp:coreProperties>
</file>