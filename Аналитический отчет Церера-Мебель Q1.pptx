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Inter" panose="02000503000000020004" pitchFamily="2" charset="0"/>
      <p:regular r:id="rId12"/>
      <p:bold r:id="rId13"/>
      <p:italic r:id="rId14"/>
      <p:boldItalic r:id="rId15"/>
    </p:embeddedFont>
    <p:embeddedFont>
      <p:font typeface="Inter Medium" panose="02000503000000020004" pitchFamily="2" charset="0"/>
      <p:regular r:id="rId16"/>
      <p:bold r:id="rId17"/>
      <p:italic r:id="rId18"/>
      <p:boldItalic r:id="rId19"/>
    </p:embeddedFont>
    <p:embeddedFont>
      <p:font typeface="Inter SemiBold" panose="02000503000000020004" pitchFamily="2" charset="0"/>
      <p:regular r:id="rId20"/>
      <p:bold r:id="rId21"/>
      <p:italic r:id="rId22"/>
      <p:boldItalic r:id="rId23"/>
    </p:embeddedFont>
    <p:embeddedFont>
      <p:font typeface="Space Grotesk" pitchFamily="2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248338-A127-4D7D-A01F-D704831E5D49}">
  <a:tblStyle styleId="{FA248338-A127-4D7D-A01F-D704831E5D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51"/>
    <p:restoredTop sz="94674"/>
  </p:normalViewPr>
  <p:slideViewPr>
    <p:cSldViewPr snapToGrid="0">
      <p:cViewPr varScale="1">
        <p:scale>
          <a:sx n="196" d="100"/>
          <a:sy n="196" d="100"/>
        </p:scale>
        <p:origin x="401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379753" y="1131699"/>
            <a:ext cx="7432491" cy="2742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Аналитический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отчет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по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54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итогам</a:t>
            </a:r>
            <a:r>
              <a:rPr lang="en-US" sz="54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ru-RU" sz="5400" b="1" dirty="0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Квартала</a:t>
            </a:r>
            <a:r>
              <a:rPr lang="en-US" sz="5400" b="1" i="0" u="none" strike="noStrike" cap="none" dirty="0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1 2026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567112" y="4460378"/>
            <a:ext cx="5057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Выручка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: 8 288 585 ₽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7800"/>
            <a:ext cx="11029950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23900" y="5972175"/>
            <a:ext cx="10887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 графике четко видны пики, связанные с локальными акциями Ozon и выходными днями, поддерживающие общий восходящий крепкий тренд на протяжении квартала.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81025" y="5972175"/>
            <a:ext cx="28575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58102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Динамика выручки по дням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7800"/>
            <a:ext cx="537210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447800"/>
            <a:ext cx="537210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76700"/>
            <a:ext cx="537210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076700"/>
            <a:ext cx="53721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23925" y="2533650"/>
            <a:ext cx="4686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8.28 млн ₽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23925" y="3162300"/>
            <a:ext cx="4686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Оборот до скидок: 10.24 млн ₽ (</a:t>
            </a:r>
            <a:r>
              <a:rPr lang="en-US" sz="120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Скидка Ozon ~19%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581775" y="2533650"/>
            <a:ext cx="4686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1 818 шт.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581775" y="3162300"/>
            <a:ext cx="4686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Уверенный объем заказов, сформированный за 3 месяца.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23925" y="5067300"/>
            <a:ext cx="4686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13.6 тонн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23925" y="5695950"/>
            <a:ext cx="46863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Почти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все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13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тонн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отправляются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склада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продавца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(FBS).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6581775" y="5067300"/>
            <a:ext cx="4686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4 559 ₽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81775" y="5695950"/>
            <a:ext cx="4686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Стабильно высокий показатель для категории металлической мебели.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18859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524000" y="1990725"/>
            <a:ext cx="914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Выручка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18859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181850" y="1990725"/>
            <a:ext cx="9620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Продажи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3925" y="4419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524000" y="4524375"/>
            <a:ext cx="26098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Вес проданного металла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1775" y="4419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181850" y="4524375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Средний чек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7750" y="20097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77025" y="200977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47750" y="45434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729412" y="4543425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81025" y="58102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Ключевые</a:t>
            </a:r>
            <a:r>
              <a:rPr lang="en-US" sz="3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30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метрики</a:t>
            </a:r>
            <a:r>
              <a:rPr lang="en-US" sz="3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ru-RU" sz="3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Квартала </a:t>
            </a:r>
            <a:r>
              <a:rPr lang="en-US" sz="3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19262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66775" y="1957387"/>
            <a:ext cx="49911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Екатеринбург — абсолютный лидер: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125 заказов, что более чем в 2 раза превышает показатели Москвы (59 заказов).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66775" y="3052762"/>
            <a:ext cx="49911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Аномалия спроса в г. Печора: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62 заказа, что указывает на высокую концентрацию целевого B2B-потребителя.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66775" y="4148137"/>
            <a:ext cx="4991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Следом в ТОП-5: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Санкт-Петербург (46 заказов) и Пенза (40 заказов) замыкают пятерку лидеров.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957762"/>
            <a:ext cx="49911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Урал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формирует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основную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базу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покупателей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стеллажей</a:t>
            </a:r>
            <a:r>
              <a:rPr lang="ru-RU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СТП-4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и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сейфов</a:t>
            </a:r>
            <a:r>
              <a:rPr lang="ru-RU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СМ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28787"/>
            <a:ext cx="52578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81025" y="58102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Лидер марта - </a:t>
            </a:r>
            <a:r>
              <a:rPr lang="en-US" sz="30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Екатеринбург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19262"/>
            <a:ext cx="110299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4848427" y="3270216"/>
            <a:ext cx="6438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Успешно доставлено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1 539 шт.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848427" y="3746466"/>
            <a:ext cx="6438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Возвраты (повреждения/отказы)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247 шт.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848427" y="4222716"/>
            <a:ext cx="6438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Отменено на этапе сборки / В пути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32 шт.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4614963" y="3336891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4614963" y="3813141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614963" y="4289391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581025" y="58102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Логистика и Упаковка: Работа с возвратами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Macintosh PowerPoint</Application>
  <PresentationFormat>Широкоэкранный</PresentationFormat>
  <Paragraphs>26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Calibri</vt:lpstr>
      <vt:lpstr>Space Grotesk</vt:lpstr>
      <vt:lpstr>Inter</vt:lpstr>
      <vt:lpstr>Inter SemiBold</vt:lpstr>
      <vt:lpstr>Arial</vt:lpstr>
      <vt:lpstr>Inter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Владимир Иванов</cp:lastModifiedBy>
  <cp:revision>1</cp:revision>
  <dcterms:modified xsi:type="dcterms:W3CDTF">2026-04-09T16:53:44Z</dcterms:modified>
</cp:coreProperties>
</file>